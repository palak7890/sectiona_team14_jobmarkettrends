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Host Grotesk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PALAK7890/SectionA_Team14_JobMarketTrends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4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5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416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LinkedIn Job Market Demand, Salary &amp; Competition Intelligence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2896553"/>
            <a:ext cx="60960" cy="1662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1564" y="2927032"/>
            <a:ext cx="2692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Sector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81564" y="3508177"/>
            <a:ext cx="2692837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Resources Analytics / Labour Market Intelligence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408" y="2896553"/>
            <a:ext cx="60960" cy="16625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5662" y="2927032"/>
            <a:ext cx="2692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Team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345662" y="3508177"/>
            <a:ext cx="2692837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A – Team 14 | Newton School of Technology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951809"/>
            <a:ext cx="60960" cy="13224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1564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Members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81564" y="5563433"/>
            <a:ext cx="595693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Palak, Divya Singh, Arun, Krishna Pramod Dubale, Samarth Sangtani, Sarvesh Kumar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599521" y="2927032"/>
            <a:ext cx="3008948" cy="2470547"/>
          </a:xfrm>
          <a:prstGeom prst="roundRect">
            <a:avLst>
              <a:gd name="adj" fmla="val 3856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856815" y="3184327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GitHub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856815" y="3765471"/>
            <a:ext cx="249435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u="sng" dirty="0">
                <a:solidFill>
                  <a:srgbClr val="3A6B7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SectionA_Team14_JobMarketTrends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10835283" y="2927032"/>
            <a:ext cx="3008948" cy="2470547"/>
          </a:xfrm>
          <a:prstGeom prst="roundRect">
            <a:avLst>
              <a:gd name="adj" fmla="val 3856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1092577" y="3184327"/>
            <a:ext cx="249435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Tableau Dashboards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1092577" y="4119801"/>
            <a:ext cx="249435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 Demand · Salary Intelligence · Competition Intelligence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599521" y="5624393"/>
            <a:ext cx="6244709" cy="1435894"/>
          </a:xfrm>
          <a:prstGeom prst="roundRect">
            <a:avLst>
              <a:gd name="adj" fmla="val 663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856815" y="5881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Submitted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856815" y="6462832"/>
            <a:ext cx="57301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April,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0180"/>
            <a:ext cx="106183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Job Counts Alone Don't Tell the Full Story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59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97079"/>
            <a:ext cx="624470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category may have 10,000 postings but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candidate attention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Recruiters, HR business partners, and workforce planners need richer signals.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572714"/>
            <a:ext cx="6244709" cy="1961555"/>
          </a:xfrm>
          <a:prstGeom prst="roundRect">
            <a:avLst>
              <a:gd name="adj" fmla="val 4857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4901565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4856202"/>
            <a:ext cx="528077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Question: Where is hiring demand concentrated, which roles attract candidates, and where do salary and competition create strategic opportunity?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599521" y="2744272"/>
            <a:ext cx="3008948" cy="1730335"/>
          </a:xfrm>
          <a:prstGeom prst="roundRect">
            <a:avLst>
              <a:gd name="adj" fmla="val 55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33955" y="2978706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Demand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833955" y="3559850"/>
            <a:ext cx="254007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are jobs concentrated?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10835283" y="2744272"/>
            <a:ext cx="3008948" cy="1730335"/>
          </a:xfrm>
          <a:prstGeom prst="roundRect">
            <a:avLst>
              <a:gd name="adj" fmla="val 55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069717" y="2978706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Engagement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069717" y="3559850"/>
            <a:ext cx="254007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roles attract candidates?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599521" y="4701421"/>
            <a:ext cx="3008948" cy="1730335"/>
          </a:xfrm>
          <a:prstGeom prst="roundRect">
            <a:avLst>
              <a:gd name="adj" fmla="val 55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3955" y="4935855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Salary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833955" y="5516999"/>
            <a:ext cx="254007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is compensation strongest?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10835283" y="4701421"/>
            <a:ext cx="3008948" cy="1730335"/>
          </a:xfrm>
          <a:prstGeom prst="roundRect">
            <a:avLst>
              <a:gd name="adj" fmla="val 55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069717" y="4935855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Competition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1069717" y="5516999"/>
            <a:ext cx="254007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is hiring hardest?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25899"/>
            <a:ext cx="9456896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 Rigorous ETL Pipeline Powers the Analysis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628" y="1805583"/>
            <a:ext cx="8264247" cy="50409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3684" y="2791091"/>
            <a:ext cx="1883421" cy="250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Ingest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7476" y="3544013"/>
            <a:ext cx="446011" cy="4460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52901" y="5025885"/>
            <a:ext cx="1883421" cy="250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Merge Meta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7254" y="3815941"/>
            <a:ext cx="446011" cy="44601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57843" y="3031519"/>
            <a:ext cx="1944608" cy="250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Clean &amp; Filter</a:t>
            </a:r>
            <a:endParaRPr lang="en-US" sz="1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7206" y="4087868"/>
            <a:ext cx="446011" cy="44601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63401" y="5610020"/>
            <a:ext cx="1883421" cy="250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</a:t>
            </a:r>
            <a:endParaRPr lang="en-US" sz="1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7019" y="4359795"/>
            <a:ext cx="446011" cy="44601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935106" y="3556557"/>
            <a:ext cx="1883420" cy="250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Export CSV</a:t>
            </a:r>
            <a:endParaRPr lang="en-US" sz="15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77567" y="4651793"/>
            <a:ext cx="446010" cy="44601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34628" y="7021473"/>
            <a:ext cx="8264247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salary was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imputed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treated as a transparency signal, measured as Salary Info %.</a:t>
            </a:r>
            <a:endParaRPr lang="en-US" sz="1450" dirty="0"/>
          </a:p>
        </p:txBody>
      </p:sp>
      <p:sp>
        <p:nvSpPr>
          <p:cNvPr id="15" name="Shape 7"/>
          <p:cNvSpPr/>
          <p:nvPr/>
        </p:nvSpPr>
        <p:spPr>
          <a:xfrm>
            <a:off x="9564648" y="1521023"/>
            <a:ext cx="4238506" cy="1385292"/>
          </a:xfrm>
          <a:prstGeom prst="roundRect">
            <a:avLst>
              <a:gd name="adj" fmla="val 7921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41788" y="1521023"/>
            <a:ext cx="91440" cy="138529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843849" y="173164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Scale</a:t>
            </a:r>
            <a:endParaRPr lang="en-US" sz="1800" dirty="0"/>
          </a:p>
        </p:txBody>
      </p:sp>
      <p:sp>
        <p:nvSpPr>
          <p:cNvPr id="18" name="Text 9"/>
          <p:cNvSpPr/>
          <p:nvPr/>
        </p:nvSpPr>
        <p:spPr>
          <a:xfrm>
            <a:off x="9843849" y="2180630"/>
            <a:ext cx="3748683" cy="51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120,484 job-level records · 26 analytical columns</a:t>
            </a:r>
            <a:endParaRPr lang="en-US" sz="1450" dirty="0"/>
          </a:p>
        </p:txBody>
      </p:sp>
      <p:sp>
        <p:nvSpPr>
          <p:cNvPr id="19" name="Shape 10"/>
          <p:cNvSpPr/>
          <p:nvPr/>
        </p:nvSpPr>
        <p:spPr>
          <a:xfrm>
            <a:off x="9564648" y="3061811"/>
            <a:ext cx="4238506" cy="1127760"/>
          </a:xfrm>
          <a:prstGeom prst="roundRect">
            <a:avLst>
              <a:gd name="adj" fmla="val 973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41788" y="3061811"/>
            <a:ext cx="91440" cy="11277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9843849" y="327243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Source</a:t>
            </a:r>
            <a:endParaRPr lang="en-US" sz="1800" dirty="0"/>
          </a:p>
        </p:txBody>
      </p:sp>
      <p:sp>
        <p:nvSpPr>
          <p:cNvPr id="22" name="Text 12"/>
          <p:cNvSpPr/>
          <p:nvPr/>
        </p:nvSpPr>
        <p:spPr>
          <a:xfrm>
            <a:off x="9843849" y="3721418"/>
            <a:ext cx="3748683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Kaggle: arshkon/linkedin-job-postings</a:t>
            </a:r>
            <a:endParaRPr lang="en-US" sz="1450" dirty="0"/>
          </a:p>
        </p:txBody>
      </p:sp>
      <p:sp>
        <p:nvSpPr>
          <p:cNvPr id="23" name="Shape 13"/>
          <p:cNvSpPr/>
          <p:nvPr/>
        </p:nvSpPr>
        <p:spPr>
          <a:xfrm>
            <a:off x="9564648" y="4345067"/>
            <a:ext cx="4238506" cy="1385292"/>
          </a:xfrm>
          <a:prstGeom prst="roundRect">
            <a:avLst>
              <a:gd name="adj" fmla="val 7921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1788" y="4345067"/>
            <a:ext cx="91440" cy="138529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843849" y="4555688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Notebooks</a:t>
            </a:r>
            <a:endParaRPr lang="en-US" sz="1800" dirty="0"/>
          </a:p>
        </p:txBody>
      </p:sp>
      <p:sp>
        <p:nvSpPr>
          <p:cNvPr id="26" name="Text 15"/>
          <p:cNvSpPr/>
          <p:nvPr/>
        </p:nvSpPr>
        <p:spPr>
          <a:xfrm>
            <a:off x="9843849" y="5004673"/>
            <a:ext cx="3748683" cy="51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01_ingestion · 02_cleaning · 03_eda · 04_statistical_analysis · 05_final_load_prep</a:t>
            </a:r>
            <a:endParaRPr lang="en-US" sz="1450" dirty="0"/>
          </a:p>
        </p:txBody>
      </p:sp>
      <p:sp>
        <p:nvSpPr>
          <p:cNvPr id="27" name="Shape 16"/>
          <p:cNvSpPr/>
          <p:nvPr/>
        </p:nvSpPr>
        <p:spPr>
          <a:xfrm>
            <a:off x="9564648" y="5885855"/>
            <a:ext cx="4238506" cy="1642824"/>
          </a:xfrm>
          <a:prstGeom prst="roundRect">
            <a:avLst>
              <a:gd name="adj" fmla="val 6679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41788" y="5885855"/>
            <a:ext cx="91440" cy="164282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9843849" y="6096476"/>
            <a:ext cx="263306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Features Engineered</a:t>
            </a:r>
            <a:endParaRPr lang="en-US" sz="1800" dirty="0"/>
          </a:p>
        </p:txBody>
      </p:sp>
      <p:sp>
        <p:nvSpPr>
          <p:cNvPr id="30" name="Text 18"/>
          <p:cNvSpPr/>
          <p:nvPr/>
        </p:nvSpPr>
        <p:spPr>
          <a:xfrm>
            <a:off x="9843849" y="6545461"/>
            <a:ext cx="3748683" cy="77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demand_score · remote_label · salary_bracket · conversion_rate · days_active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54236"/>
            <a:ext cx="11284506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Eight KPIs Translate Raw Data into Hiring Intelligence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4628" y="1452324"/>
            <a:ext cx="375642" cy="3756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628" y="2022396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Postings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34628" y="2409111"/>
            <a:ext cx="638329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supply and coverage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2355" y="1452324"/>
            <a:ext cx="375642" cy="3756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12355" y="2022396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Avg Views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412355" y="2409111"/>
            <a:ext cx="638329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Listing visibility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628" y="2977753"/>
            <a:ext cx="375642" cy="3756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628" y="3547824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Avg Applies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4628" y="3934539"/>
            <a:ext cx="638329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action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2355" y="2977753"/>
            <a:ext cx="375642" cy="3756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12355" y="3547824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Conversion Rate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7412355" y="3934539"/>
            <a:ext cx="638329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÷ Views — engagement quality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4628" y="4503182"/>
            <a:ext cx="375642" cy="3756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4628" y="507325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Competition Score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834628" y="5459968"/>
            <a:ext cx="638329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÷ Views — applicant intensity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12355" y="4503182"/>
            <a:ext cx="375642" cy="3756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12355" y="507325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Efficiency Score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7412355" y="5459968"/>
            <a:ext cx="638329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÷ Days Active — application speed</a:t>
            </a:r>
            <a:endParaRPr lang="en-US" sz="14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4628" y="6028611"/>
            <a:ext cx="375642" cy="37564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34628" y="6598682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Salary Info %</a:t>
            </a:r>
            <a:endParaRPr lang="en-US" sz="1800" dirty="0"/>
          </a:p>
        </p:txBody>
      </p:sp>
      <p:sp>
        <p:nvSpPr>
          <p:cNvPr id="23" name="Text 14"/>
          <p:cNvSpPr/>
          <p:nvPr/>
        </p:nvSpPr>
        <p:spPr>
          <a:xfrm>
            <a:off x="834628" y="6985397"/>
            <a:ext cx="638329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with disclosed salary — transparency</a:t>
            </a:r>
            <a:endParaRPr lang="en-US" sz="14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12355" y="6028611"/>
            <a:ext cx="375642" cy="37564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12355" y="6598682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Hard-to-Fill %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7412355" y="6985397"/>
            <a:ext cx="638329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response relative to active days — hiring friction</a:t>
            </a:r>
            <a:endParaRPr lang="en-US" sz="1450" dirty="0"/>
          </a:p>
        </p:txBody>
      </p:sp>
      <p:sp>
        <p:nvSpPr>
          <p:cNvPr id="27" name="Text 17"/>
          <p:cNvSpPr/>
          <p:nvPr/>
        </p:nvSpPr>
        <p:spPr>
          <a:xfrm>
            <a:off x="834628" y="7417832"/>
            <a:ext cx="12961025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KPIs computed in Python notebooks and visualized across three Tableau dashboards.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744022"/>
            <a:ext cx="13265944" cy="1218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Most Postings Are Invisible — A Few Categories Dominate Attention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2394585"/>
            <a:ext cx="4282440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50"/>
              </a:lnSpc>
              <a:buNone/>
            </a:pPr>
            <a:r>
              <a:rPr lang="en-US" sz="5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120K</a:t>
            </a:r>
            <a:endParaRPr lang="en-US" sz="5050" dirty="0"/>
          </a:p>
        </p:txBody>
      </p:sp>
      <p:sp>
        <p:nvSpPr>
          <p:cNvPr id="4" name="Text 2"/>
          <p:cNvSpPr/>
          <p:nvPr/>
        </p:nvSpPr>
        <p:spPr>
          <a:xfrm>
            <a:off x="1605082" y="326076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Postings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2228" y="3665815"/>
            <a:ext cx="428244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all categories and states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73980" y="2394585"/>
            <a:ext cx="4282440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50"/>
              </a:lnSpc>
              <a:buNone/>
            </a:pPr>
            <a:r>
              <a:rPr lang="en-US" sz="5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14.63</a:t>
            </a:r>
            <a:endParaRPr lang="en-US" sz="5050" dirty="0"/>
          </a:p>
        </p:txBody>
      </p:sp>
      <p:sp>
        <p:nvSpPr>
          <p:cNvPr id="7" name="Text 5"/>
          <p:cNvSpPr/>
          <p:nvPr/>
        </p:nvSpPr>
        <p:spPr>
          <a:xfrm>
            <a:off x="6096833" y="326076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Avg Views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173980" y="3665815"/>
            <a:ext cx="428244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posting — moderate visibility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65732" y="2394585"/>
            <a:ext cx="4282440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50"/>
              </a:lnSpc>
              <a:buNone/>
            </a:pPr>
            <a:r>
              <a:rPr lang="en-US" sz="5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10.54</a:t>
            </a:r>
            <a:endParaRPr lang="en-US" sz="5050" dirty="0"/>
          </a:p>
        </p:txBody>
      </p:sp>
      <p:sp>
        <p:nvSpPr>
          <p:cNvPr id="10" name="Text 8"/>
          <p:cNvSpPr/>
          <p:nvPr/>
        </p:nvSpPr>
        <p:spPr>
          <a:xfrm>
            <a:off x="10588585" y="326076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Avg Applies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65732" y="3665815"/>
            <a:ext cx="428244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posting — competitive but limited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8104" y="4369832"/>
            <a:ext cx="4282440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50"/>
              </a:lnSpc>
              <a:buNone/>
            </a:pPr>
            <a:r>
              <a:rPr lang="en-US" sz="5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17.52%</a:t>
            </a:r>
            <a:endParaRPr lang="en-US" sz="5050" dirty="0"/>
          </a:p>
        </p:txBody>
      </p:sp>
      <p:sp>
        <p:nvSpPr>
          <p:cNvPr id="13" name="Text 11"/>
          <p:cNvSpPr/>
          <p:nvPr/>
        </p:nvSpPr>
        <p:spPr>
          <a:xfrm>
            <a:off x="3850957" y="523601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Conversion Rate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928104" y="5641062"/>
            <a:ext cx="428244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Views converting to applications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19856" y="4369832"/>
            <a:ext cx="4282440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50"/>
              </a:lnSpc>
              <a:buNone/>
            </a:pPr>
            <a:r>
              <a:rPr lang="en-US" sz="5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29.12%</a:t>
            </a:r>
            <a:endParaRPr lang="en-US" sz="5050" dirty="0"/>
          </a:p>
        </p:txBody>
      </p:sp>
      <p:sp>
        <p:nvSpPr>
          <p:cNvPr id="16" name="Text 14"/>
          <p:cNvSpPr/>
          <p:nvPr/>
        </p:nvSpPr>
        <p:spPr>
          <a:xfrm>
            <a:off x="8342709" y="523601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Salary Disclosed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19856" y="5641062"/>
            <a:ext cx="428244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F9C8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transparency gap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the market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2228" y="6289477"/>
            <a:ext cx="6395204" cy="1007626"/>
          </a:xfrm>
          <a:prstGeom prst="roundRect">
            <a:avLst>
              <a:gd name="adj" fmla="val 8125"/>
            </a:avLst>
          </a:prstGeom>
          <a:solidFill>
            <a:srgbClr val="FCF2B5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133" y="6560582"/>
            <a:ext cx="243602" cy="19490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15641" y="6505575"/>
            <a:ext cx="5566886" cy="54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117,827 of 120,484 postings are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low-demand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employers must improve listing quality, not just volume.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560588" y="6289477"/>
            <a:ext cx="6395204" cy="1007626"/>
          </a:xfrm>
          <a:prstGeom prst="roundRect">
            <a:avLst>
              <a:gd name="adj" fmla="val 8125"/>
            </a:avLst>
          </a:prstGeom>
          <a:solidFill>
            <a:srgbClr val="B6D6FC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93" y="6560582"/>
            <a:ext cx="243602" cy="19490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194000" y="6505575"/>
            <a:ext cx="5566886" cy="54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Marketing &amp; HR &amp; Recruiting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attract the highest engagement despite lower volume.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CA, TX, FL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dominate geographic demand.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88645"/>
            <a:ext cx="13241179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&amp; Analytics Leads Pay; Remote Roles Carry a Premium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611" y="2284452"/>
            <a:ext cx="7064693" cy="35588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03657" y="2745462"/>
            <a:ext cx="23241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144k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307002" y="3530322"/>
            <a:ext cx="23241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131k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808527" y="4315182"/>
            <a:ext cx="23241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118k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218059" y="5100042"/>
            <a:ext cx="23241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103k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251031" y="22627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Statistical Validation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8251031" y="2768203"/>
            <a:ext cx="5692259" cy="1205270"/>
          </a:xfrm>
          <a:prstGeom prst="roundRect">
            <a:avLst>
              <a:gd name="adj" fmla="val 9104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171" y="2768203"/>
            <a:ext cx="91440" cy="12052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40829" y="2989421"/>
            <a:ext cx="29460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Remote vs On-Site Salary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8540829" y="3473172"/>
            <a:ext cx="5181243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t-test p-value = </a:t>
            </a:r>
            <a:pPr algn="l" indent="0" marL="0">
              <a:lnSpc>
                <a:spcPts val="21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2.6e-196</a:t>
            </a:r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highly significant difference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8251031" y="4147066"/>
            <a:ext cx="5692259" cy="1205270"/>
          </a:xfrm>
          <a:prstGeom prst="roundRect">
            <a:avLst>
              <a:gd name="adj" fmla="val 9104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171" y="4147066"/>
            <a:ext cx="91440" cy="120527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0829" y="4368284"/>
            <a:ext cx="31093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Salary by Category ANOVA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540829" y="4852035"/>
            <a:ext cx="5181243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p-value = </a:t>
            </a:r>
            <a:pPr algn="l" indent="0" marL="0">
              <a:lnSpc>
                <a:spcPts val="21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</a:t>
            </a:r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differences are real, not noise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8251031" y="5525929"/>
            <a:ext cx="5692259" cy="1484352"/>
          </a:xfrm>
          <a:prstGeom prst="roundRect">
            <a:avLst>
              <a:gd name="adj" fmla="val 739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171" y="5525929"/>
            <a:ext cx="91440" cy="14843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40829" y="57471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Efficiency Distribution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8540829" y="6230898"/>
            <a:ext cx="5181243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 = 0.32 applies/day · Median = 0.069 — most roles fill slowly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251031" y="7205543"/>
            <a:ext cx="569225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Libraries: pandas · scipy · statsmodels · matplotlib · seaborn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53891"/>
            <a:ext cx="130923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Demand Segmentation Reveals a Highly Skewed Market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2601039"/>
            <a:ext cx="551617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-apple-system, BlinkMacSystemFont, Segoe UI, Roboto, Helvetica Neue, Arial, sans-serif Black" pitchFamily="34" charset="0"/>
                <a:ea typeface="-apple-system, BlinkMacSystemFont, Segoe UI, Roboto, Helvetica Neue, Arial, sans-serif Black" pitchFamily="34" charset="-122"/>
                <a:cs typeface="-apple-system, BlinkMacSystemFont, Segoe UI, Roboto, Helvetica Neue, Arial, sans-serif Black" pitchFamily="34" charset="-120"/>
              </a:rPr>
              <a:t>0.03%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69025" y="2814399"/>
            <a:ext cx="859155" cy="121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Total conversion rate 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25" y="3012162"/>
            <a:ext cx="6278166" cy="31543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6257" y="3231631"/>
            <a:ext cx="23241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118k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2958584" y="5576818"/>
            <a:ext cx="255746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2.39k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476095" y="5624439"/>
            <a:ext cx="18871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235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983903" y="5628925"/>
            <a:ext cx="141089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32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7432596" y="2346365"/>
            <a:ext cx="6594634" cy="5229225"/>
          </a:xfrm>
          <a:prstGeom prst="roundRect">
            <a:avLst>
              <a:gd name="adj" fmla="val 3026"/>
            </a:avLst>
          </a:prstGeom>
          <a:solidFill>
            <a:srgbClr val="EF9C82"/>
          </a:solidFill>
          <a:ln/>
        </p:spPr>
      </p:sp>
      <p:sp>
        <p:nvSpPr>
          <p:cNvPr id="11" name="Text 8"/>
          <p:cNvSpPr/>
          <p:nvPr/>
        </p:nvSpPr>
        <p:spPr>
          <a:xfrm>
            <a:off x="7652266" y="255912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This Means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652266" y="3115151"/>
            <a:ext cx="6155293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High-demand jobs are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rare and valuable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study them as best-practice examples for role description, salary framing, and application process design.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52266" y="4382810"/>
            <a:ext cx="6155293" cy="16431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652266" y="469356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Demand States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652266" y="5249585"/>
            <a:ext cx="6155293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California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Texas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Florida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New York · Illinois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652266" y="5868352"/>
            <a:ext cx="6155293" cy="16431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652266" y="617910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Hiring Activity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7652266" y="6735127"/>
            <a:ext cx="6155293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Strongly concentrated in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April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(118,659 postings) — seasonality must be factored into planning.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232" y="435054"/>
            <a:ext cx="8820388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Three Tableau Dashboards Cover Every Decision Layer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232" y="1055251"/>
            <a:ext cx="6733937" cy="54994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424232" y="6654403"/>
            <a:ext cx="9781937" cy="1140143"/>
          </a:xfrm>
          <a:prstGeom prst="roundRect">
            <a:avLst>
              <a:gd name="adj" fmla="val 522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31852" y="6662023"/>
            <a:ext cx="3255526" cy="1124903"/>
          </a:xfrm>
          <a:prstGeom prst="roundRect">
            <a:avLst>
              <a:gd name="adj" fmla="val 5293"/>
            </a:avLst>
          </a:prstGeom>
          <a:solidFill>
            <a:srgbClr val="D9EDF2"/>
          </a:solidFill>
          <a:ln/>
        </p:spPr>
      </p:sp>
      <p:sp>
        <p:nvSpPr>
          <p:cNvPr id="6" name="Text 3"/>
          <p:cNvSpPr/>
          <p:nvPr/>
        </p:nvSpPr>
        <p:spPr>
          <a:xfrm>
            <a:off x="2573536" y="6803708"/>
            <a:ext cx="29569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 1 — Demand Intelligence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573536" y="7078266"/>
            <a:ext cx="2972157" cy="518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cards · State map · Demand segmentation · Hiring activity over time · Views vs Applications scatter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87378" y="6662023"/>
            <a:ext cx="3255526" cy="1124903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9" name="Shape 6"/>
          <p:cNvSpPr/>
          <p:nvPr/>
        </p:nvSpPr>
        <p:spPr>
          <a:xfrm>
            <a:off x="5687378" y="6662023"/>
            <a:ext cx="15240" cy="1124903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10" name="Text 7"/>
          <p:cNvSpPr/>
          <p:nvPr/>
        </p:nvSpPr>
        <p:spPr>
          <a:xfrm>
            <a:off x="5829062" y="6803708"/>
            <a:ext cx="27832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 2 — Salary Intelligence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829062" y="7078266"/>
            <a:ext cx="2972157" cy="518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Salary by experience level · Salary bracket distribution · Remote vs on-site salary comparison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942903" y="6662023"/>
            <a:ext cx="3255526" cy="1124903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3" name="Shape 10"/>
          <p:cNvSpPr/>
          <p:nvPr/>
        </p:nvSpPr>
        <p:spPr>
          <a:xfrm>
            <a:off x="8942903" y="6662023"/>
            <a:ext cx="15240" cy="1124903"/>
          </a:xfrm>
          <a:prstGeom prst="roundRect">
            <a:avLst>
              <a:gd name="adj" fmla="val 390698"/>
            </a:avLst>
          </a:prstGeom>
          <a:solidFill>
            <a:srgbClr val="BFD3D8"/>
          </a:solidFill>
          <a:ln/>
        </p:spPr>
      </p:sp>
      <p:sp>
        <p:nvSpPr>
          <p:cNvPr id="14" name="Text 11"/>
          <p:cNvSpPr/>
          <p:nvPr/>
        </p:nvSpPr>
        <p:spPr>
          <a:xfrm>
            <a:off x="9084588" y="6803708"/>
            <a:ext cx="2972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 3 — Competition Intelligence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084588" y="7299722"/>
            <a:ext cx="2972157" cy="34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Competition score by category · Hard-to-fill indicators · Demand-salary positioning matrix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487799"/>
            <a:ext cx="12227362" cy="110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Five Recommendations to Turn Insights into Hiring Advantage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201460" y="1872139"/>
            <a:ext cx="12227362" cy="106322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4320" y="1894999"/>
            <a:ext cx="708779" cy="1017508"/>
          </a:xfrm>
          <a:prstGeom prst="roundRect">
            <a:avLst>
              <a:gd name="adj" fmla="val 6631"/>
            </a:avLst>
          </a:prstGeom>
          <a:solidFill>
            <a:srgbClr val="D9EDF2"/>
          </a:solidFill>
          <a:ln/>
        </p:spPr>
      </p:sp>
      <p:sp>
        <p:nvSpPr>
          <p:cNvPr id="5" name="Text 3"/>
          <p:cNvSpPr/>
          <p:nvPr/>
        </p:nvSpPr>
        <p:spPr>
          <a:xfrm>
            <a:off x="1441966" y="2237661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2071449" y="2072164"/>
            <a:ext cx="268045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Mandate Salary Disclosure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71449" y="2431971"/>
            <a:ext cx="1115734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29.12% disclose salary. Transparency improves candidate fit and reduces screening waste.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01460" y="3073718"/>
            <a:ext cx="12227362" cy="106322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4320" y="3096578"/>
            <a:ext cx="708779" cy="1017508"/>
          </a:xfrm>
          <a:prstGeom prst="roundRect">
            <a:avLst>
              <a:gd name="adj" fmla="val 6631"/>
            </a:avLst>
          </a:prstGeom>
          <a:solidFill>
            <a:srgbClr val="D9EDF2"/>
          </a:solidFill>
          <a:ln/>
        </p:spPr>
      </p:sp>
      <p:sp>
        <p:nvSpPr>
          <p:cNvPr id="10" name="Text 8"/>
          <p:cNvSpPr/>
          <p:nvPr/>
        </p:nvSpPr>
        <p:spPr>
          <a:xfrm>
            <a:off x="1441966" y="3439239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2071449" y="3273743"/>
            <a:ext cx="3170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Optimize Low-Demand Listings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071449" y="3633549"/>
            <a:ext cx="1115734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job titles, descriptions, and targeting. A 10% lift in conversion affects thousands of roles.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01460" y="4275296"/>
            <a:ext cx="12227362" cy="106322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24320" y="4298156"/>
            <a:ext cx="708779" cy="1017508"/>
          </a:xfrm>
          <a:prstGeom prst="roundRect">
            <a:avLst>
              <a:gd name="adj" fmla="val 6631"/>
            </a:avLst>
          </a:prstGeom>
          <a:solidFill>
            <a:srgbClr val="D9EDF2"/>
          </a:solidFill>
          <a:ln/>
        </p:spPr>
      </p:sp>
      <p:sp>
        <p:nvSpPr>
          <p:cNvPr id="15" name="Text 13"/>
          <p:cNvSpPr/>
          <p:nvPr/>
        </p:nvSpPr>
        <p:spPr>
          <a:xfrm>
            <a:off x="1441966" y="4640818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2071449" y="4475321"/>
            <a:ext cx="258770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Benchmark Technical Pay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071449" y="4835128"/>
            <a:ext cx="1115734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&amp; Analytics (~$144K) and Technology (~$131K) need competitive compensation playbooks.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01460" y="5476875"/>
            <a:ext cx="12227362" cy="106322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4320" y="5499735"/>
            <a:ext cx="708779" cy="1017508"/>
          </a:xfrm>
          <a:prstGeom prst="roundRect">
            <a:avLst>
              <a:gd name="adj" fmla="val 6631"/>
            </a:avLst>
          </a:prstGeom>
          <a:solidFill>
            <a:srgbClr val="D9EDF2"/>
          </a:solidFill>
          <a:ln/>
        </p:spPr>
      </p:sp>
      <p:sp>
        <p:nvSpPr>
          <p:cNvPr id="20" name="Text 18"/>
          <p:cNvSpPr/>
          <p:nvPr/>
        </p:nvSpPr>
        <p:spPr>
          <a:xfrm>
            <a:off x="1441966" y="5842397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2071449" y="5676900"/>
            <a:ext cx="281630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Build Remote Hiring Funnels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071449" y="6036707"/>
            <a:ext cx="1115734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Remote roles face higher competition — separate funnels with faster screening reduce recruiter backlog.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201460" y="6678454"/>
            <a:ext cx="12227362" cy="1063228"/>
          </a:xfrm>
          <a:prstGeom prst="roundRect">
            <a:avLst>
              <a:gd name="adj" fmla="val 700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4320" y="6701314"/>
            <a:ext cx="708779" cy="1017508"/>
          </a:xfrm>
          <a:prstGeom prst="roundRect">
            <a:avLst>
              <a:gd name="adj" fmla="val 6631"/>
            </a:avLst>
          </a:prstGeom>
          <a:solidFill>
            <a:srgbClr val="D9EDF2"/>
          </a:solidFill>
          <a:ln/>
        </p:spPr>
      </p:sp>
      <p:sp>
        <p:nvSpPr>
          <p:cNvPr id="25" name="Text 23"/>
          <p:cNvSpPr/>
          <p:nvPr/>
        </p:nvSpPr>
        <p:spPr>
          <a:xfrm>
            <a:off x="1441966" y="7043976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2071449" y="6878479"/>
            <a:ext cx="40100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Leverage High-Engagement Categories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071449" y="7238286"/>
            <a:ext cx="1115734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Marketing and HR &amp; Recruiting for rapid hiring campaigns and fast pipeline creation.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74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Segmented Intelligence Beats Volume-Based Hiring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12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92423"/>
            <a:ext cx="62447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job market is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uneven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most postings are low-demand, salary transparency is limited, technical roles offer stronger pay, and remote roles combine higher opportunity with higher competition.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808220"/>
            <a:ext cx="6244709" cy="1621393"/>
          </a:xfrm>
          <a:prstGeom prst="roundRect">
            <a:avLst>
              <a:gd name="adj" fmla="val 5876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137071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091708"/>
            <a:ext cx="528077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recommended action: use segmented hiring intelligence by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 · salary · remote status · state · experience level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599521" y="2639616"/>
            <a:ext cx="3008948" cy="2410658"/>
          </a:xfrm>
          <a:prstGeom prst="roundRect">
            <a:avLst>
              <a:gd name="adj" fmla="val 395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33955" y="2874050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833955" y="3455194"/>
            <a:ext cx="254007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modelling for application probability, hard-to-fill risk, and salary range prediction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10835283" y="2639616"/>
            <a:ext cx="3008948" cy="2410658"/>
          </a:xfrm>
          <a:prstGeom prst="roundRect">
            <a:avLst>
              <a:gd name="adj" fmla="val 395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069717" y="2874050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Skill Dashboard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069717" y="3455194"/>
            <a:ext cx="254007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skill-demand layer using the exploded skills dataset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599521" y="5277088"/>
            <a:ext cx="3008948" cy="2070497"/>
          </a:xfrm>
          <a:prstGeom prst="roundRect">
            <a:avLst>
              <a:gd name="adj" fmla="val 46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33955" y="5511522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Real-Time Refresh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833955" y="6092666"/>
            <a:ext cx="254007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Scheduled pipeline updates for near-real-time market intelligence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10835283" y="5277088"/>
            <a:ext cx="3008948" cy="2070497"/>
          </a:xfrm>
          <a:prstGeom prst="roundRect">
            <a:avLst>
              <a:gd name="adj" fmla="val 46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069717" y="5511522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Candidate Tool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1069717" y="6092666"/>
            <a:ext cx="254007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 engine using demand, salary, and competition signals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2026-05-01T17:42:20Z</dcterms:created>
  <dcterms:modified xsi:type="dcterms:W3CDTF">2026-05-01T17:42:20Z</dcterms:modified>
</cp:coreProperties>
</file>